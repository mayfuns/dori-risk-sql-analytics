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19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ACK</c:v>
                  </c:pt>
                  <c:pt idx="1">
                    <c:v>BCC</c:v>
                  </c:pt>
                  <c:pt idx="2">
                    <c:v>NEV</c:v>
                  </c:pt>
                  <c:pt idx="3">
                    <c:v>SEK</c:v>
                  </c:pt>
                  <c:pt idx="4">
                    <c:v>SCC</c:v>
                  </c:pt>
                  <c:pt idx="5">
                    <c:v>MEL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461</c:v>
                </c:pt>
                <c:pt idx="1">
                  <c:v>273</c:v>
                </c:pt>
                <c:pt idx="2">
                  <c:v>144</c:v>
                </c:pt>
                <c:pt idx="3">
                  <c:v>137</c:v>
                </c:pt>
                <c:pt idx="4">
                  <c:v>56</c:v>
                </c:pt>
                <c:pt idx="5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60–79</c:v>
                  </c:pt>
                  <c:pt idx="1">
                    <c:v>40–59</c:v>
                  </c:pt>
                  <c:pt idx="2">
                    <c:v>80+</c:v>
                  </c:pt>
                  <c:pt idx="3">
                    <c:v>20–39</c:v>
                  </c:pt>
                  <c:pt idx="4">
                    <c:v>Under 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159</c:v>
                </c:pt>
                <c:pt idx="1">
                  <c:v>127</c:v>
                </c:pt>
                <c:pt idx="2">
                  <c:v>44</c:v>
                </c:pt>
                <c:pt idx="3">
                  <c:v>16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3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726</c:v>
                </c:pt>
                <c:pt idx="1">
                  <c:v>362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Face</c:v>
                  </c:pt>
                  <c:pt idx="1">
                    <c:v>Chest</c:v>
                  </c:pt>
                  <c:pt idx="2">
                    <c:v>Nose</c:v>
                  </c:pt>
                  <c:pt idx="3">
                    <c:v>Back</c:v>
                  </c:pt>
                  <c:pt idx="4">
                    <c:v>Forearm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</c:v>
                </c:pt>
                <c:pt idx="1">
                  <c:v>52</c:v>
                </c:pt>
                <c:pt idx="2">
                  <c:v>47</c:v>
                </c:pt>
                <c:pt idx="3">
                  <c:v>38</c:v>
                </c:pt>
                <c:pt idx="4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Lesions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Itching</c:v>
                  </c:pt>
                  <c:pt idx="1">
                    <c:v>Elevation</c:v>
                  </c:pt>
                  <c:pt idx="2">
                    <c:v>Bleeding</c:v>
                  </c:pt>
                  <c:pt idx="3">
                    <c:v>Pain</c:v>
                  </c:pt>
                  <c:pt idx="4">
                    <c:v>Changed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670</c:v>
                </c:pt>
                <c:pt idx="1">
                  <c:v>611</c:v>
                </c:pt>
                <c:pt idx="2">
                  <c:v>222</c:v>
                </c:pt>
                <c:pt idx="3">
                  <c:v>151</c:v>
                </c:pt>
                <c:pt idx="4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diameter</c:v>
                </c:pt>
              </c:strCache>
            </c:strRef>
          </c:tx>
          <c:spPr>
            <a:solidFill>
              <a:srgbClr val="0B1F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MEL</c:v>
                  </c:pt>
                  <c:pt idx="1">
                    <c:v>SCC</c:v>
                  </c:pt>
                  <c:pt idx="2">
                    <c:v>BCC</c:v>
                  </c:pt>
                  <c:pt idx="3">
                    <c:v>ACK</c:v>
                  </c:pt>
                  <c:pt idx="4">
                    <c:v>SEK</c:v>
                  </c:pt>
                  <c:pt idx="5">
                    <c:v>NEV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14.09</c:v>
                </c:pt>
                <c:pt idx="1">
                  <c:v>10.46</c:v>
                </c:pt>
                <c:pt idx="2">
                  <c:v>9.97</c:v>
                </c:pt>
                <c:pt idx="3">
                  <c:v>2.62</c:v>
                </c:pt>
                <c:pt idx="4">
                  <c:v>0.8</c:v>
                </c:pt>
                <c:pt idx="5">
                  <c:v>0.67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Face</c:v>
                  </c:pt>
                  <c:pt idx="1">
                    <c:v>Forearm</c:v>
                  </c:pt>
                  <c:pt idx="2">
                    <c:v>Chest</c:v>
                  </c:pt>
                  <c:pt idx="3">
                    <c:v>Back</c:v>
                  </c:pt>
                  <c:pt idx="4">
                    <c:v>Arm</c:v>
                  </c:pt>
                  <c:pt idx="5">
                    <c:v>Nose</c:v>
                  </c:pt>
                  <c:pt idx="6">
                    <c:v>Hand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278</c:v>
                </c:pt>
                <c:pt idx="1">
                  <c:v>219</c:v>
                </c:pt>
                <c:pt idx="2">
                  <c:v>124</c:v>
                </c:pt>
                <c:pt idx="3">
                  <c:v>105</c:v>
                </c:pt>
                <c:pt idx="4">
                  <c:v>92</c:v>
                </c:pt>
                <c:pt idx="5">
                  <c:v>68</c:v>
                </c:pt>
                <c:pt idx="6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Biopsied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Face</c:v>
                  </c:pt>
                  <c:pt idx="1">
                    <c:v>Chest</c:v>
                  </c:pt>
                  <c:pt idx="2">
                    <c:v>Nose</c:v>
                  </c:pt>
                  <c:pt idx="3">
                    <c:v>Back</c:v>
                  </c:pt>
                  <c:pt idx="4">
                    <c:v>Forearm</c:v>
                  </c:pt>
                  <c:pt idx="5">
                    <c:v>Arm</c:v>
                  </c:pt>
                  <c:pt idx="6">
                    <c:v>Neck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124</c:v>
                </c:pt>
                <c:pt idx="1">
                  <c:v>63</c:v>
                </c:pt>
                <c:pt idx="2">
                  <c:v>54</c:v>
                </c:pt>
                <c:pt idx="3">
                  <c:v>45</c:v>
                </c:pt>
                <c:pt idx="4">
                  <c:v>44</c:v>
                </c:pt>
                <c:pt idx="5">
                  <c:v>37</c:v>
                </c:pt>
                <c:pt idx="6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BCC</c:v>
                  </c:pt>
                  <c:pt idx="1">
                    <c:v>SCC</c:v>
                  </c:pt>
                  <c:pt idx="2">
                    <c:v>ACK</c:v>
                  </c:pt>
                  <c:pt idx="3">
                    <c:v>MEL</c:v>
                  </c:pt>
                  <c:pt idx="4">
                    <c:v>NEV</c:v>
                  </c:pt>
                  <c:pt idx="5">
                    <c:v>SEK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15</c:v>
                </c:pt>
                <c:pt idx="2">
                  <c:v>13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Malignant rate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Smoke+drink</c:v>
                  </c:pt>
                  <c:pt idx="1">
                    <c:v>Smoking only</c:v>
                  </c:pt>
                  <c:pt idx="2">
                    <c:v>Alcohol only</c:v>
                  </c:pt>
                  <c:pt idx="3">
                    <c:v>Neither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82.14</c:v>
                </c:pt>
                <c:pt idx="1">
                  <c:v>70.59</c:v>
                </c:pt>
                <c:pt idx="2">
                  <c:v>68.18</c:v>
                </c:pt>
                <c:pt idx="3">
                  <c:v>24.45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chart" Target="..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abstract_biotech_medic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82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B1F33">
              <a:alpha val="98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02920" y="10058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Skin Cancer Risk Intelligence &amp;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Diagnosis Optimization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30352" y="26700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F7EA"/>
                </a:solidFill>
              </a:rPr>
              <a:t>Healthcare Data Analytics SQL Capstone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0352" y="3099816"/>
            <a:ext cx="201168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30352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Dermalife Oncology &amp; Research Institute (DORI)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0352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5E5EE"/>
                </a:solidFill>
              </a:rPr>
              <a:t>SQL-driven analysis to identify high-risk patients, diagnosis patterns, environmental exposure, lifestyle risk and opportunities for early detection.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530352" y="6199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E5EE"/>
                </a:solidFill>
              </a:rPr>
              <a:t>Prepared for capstone analysis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F7FBFC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a_clean_modern_medical_tech_illustration_scene_w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4864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8C28"/>
                </a:solidFill>
              </a:rPr>
              <a:t>PROJECT CONTEXT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DORI’s analytics challenge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The institute needed a structured SQL analysis to investigate rising skin cancer cases, delayed diagnoses, high-risk patient groups and uneven risk patterns across regions.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13232" y="2926080"/>
            <a:ext cx="4425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Health problem: late-stage skin cancer diagnoses, high-risk lesion progression and recurring patient complications, especially among elderly and underserved populations.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Analytical goal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4617720"/>
            <a:ext cx="42976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</a:rPr>
              <a:t>Identify high-risk patients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Reveal diagnosis trends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Evaluate environmental and lifestyle risk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Recommend preventive actions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Healthcare SQL Capstone | DORI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40664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SQL • Healthcare analytics • Skin cancer risk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 SQL workflow and database structure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 repeatable analysis process from database restore to healthcare recommendations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115568"/>
            <a:ext cx="19659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" y="160020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16733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13816" y="1993392"/>
            <a:ext cx="0" cy="438912"/>
          </a:xfrm>
          <a:prstGeom prst="line">
            <a:avLst/>
          </a:prstGeom>
          <a:noFill/>
          <a:ln w="15240">
            <a:solidFill>
              <a:srgbClr val="BBD8D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33856" y="157276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Restore DB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133856" y="18013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PostgreSQL backup imported for SQL analysis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21792" y="2450592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" y="252374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" y="2843784"/>
            <a:ext cx="0" cy="438912"/>
          </a:xfrm>
          <a:prstGeom prst="line">
            <a:avLst/>
          </a:prstGeom>
          <a:noFill/>
          <a:ln w="15240">
            <a:solidFill>
              <a:srgbClr val="BBD8D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33856" y="24231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Explore data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133856" y="2651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Patient demographics, lesion fields and diagnosis categories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21792" y="3300984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" y="337413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3816" y="3694176"/>
            <a:ext cx="0" cy="438912"/>
          </a:xfrm>
          <a:prstGeom prst="line">
            <a:avLst/>
          </a:prstGeom>
          <a:noFill/>
          <a:ln w="15240">
            <a:solidFill>
              <a:srgbClr val="BBD8D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33856" y="32735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Analyse risk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133856" y="35021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CASE, JOIN, FILTER, aggregation and ranked queries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21792" y="4151376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1792" y="422452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3816" y="4544568"/>
            <a:ext cx="0" cy="438912"/>
          </a:xfrm>
          <a:prstGeom prst="line">
            <a:avLst/>
          </a:prstGeom>
          <a:noFill/>
          <a:ln w="15240">
            <a:solidFill>
              <a:srgbClr val="BBD8D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33856" y="41239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Interpret results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133856" y="4352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Translate query outputs into clinical insights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21792" y="5001768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21792" y="50749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" y="49743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Recommend action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133856" y="52029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Screening, triage and preventive strategies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5623560" y="1325880"/>
            <a:ext cx="5943600" cy="4782312"/>
          </a:xfrm>
          <a:prstGeom prst="roundRect">
            <a:avLst>
              <a:gd name="adj" fmla="val 1912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9788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Entity Relationship Diagram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97880" y="1810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patient_id links patient-level and lesion-level tables</a:t>
            </a:r>
            <a:endParaRPr lang="en-US" sz="950" dirty="0"/>
          </a:p>
        </p:txBody>
      </p:sp>
      <p:pic>
        <p:nvPicPr>
          <p:cNvPr id="33" name="Image 0" descr="/mnt/data/slide_assets/erd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382134"/>
            <a:ext cx="5394960" cy="303556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1148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Healthcare SQL Capstone | DORI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40664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SQL • Healthcare analytics • Skin cancer risk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at a glance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1,088 patient records joined to 1,088 lesion records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115568"/>
            <a:ext cx="19659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4356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1,088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Patient records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2267712"/>
            <a:ext cx="1568196" cy="0"/>
          </a:xfrm>
          <a:prstGeom prst="line">
            <a:avLst/>
          </a:prstGeom>
          <a:noFill/>
          <a:ln w="15875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63240" y="14356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1,088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063240" y="1892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Lesion records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2267712"/>
            <a:ext cx="1568196" cy="0"/>
          </a:xfrm>
          <a:prstGeom prst="line">
            <a:avLst/>
          </a:prstGeom>
          <a:noFill/>
          <a:ln w="15875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532120" y="14356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32120" y="1892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Body regions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2267712"/>
            <a:ext cx="1568196" cy="0"/>
          </a:xfrm>
          <a:prstGeom prst="line">
            <a:avLst/>
          </a:prstGeom>
          <a:noFill/>
          <a:ln w="15875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01000" y="14356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001000" y="1892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Diagnosis categories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01000" y="2267712"/>
            <a:ext cx="1568196" cy="0"/>
          </a:xfrm>
          <a:prstGeom prst="line">
            <a:avLst/>
          </a:prstGeom>
          <a:noFill/>
          <a:ln w="15875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Diagnosis category frequency</a:t>
            </a:r>
            <a:endParaRPr lang="en-US" sz="10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" y="3090672"/>
          <a:ext cx="5074920" cy="2670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217920" y="283464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92240" y="30632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Diagnosis grouping used in this analysis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3529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</a:rPr>
              <a:t>Malignant / severe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75320" y="35295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MEL • SCC • BCC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92240" y="40142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</a:rPr>
              <a:t>Precancerous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75320" y="4014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ACK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92240" y="44988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Benign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275320" y="4498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NEV • SEK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492240" y="50474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i="1" dirty="0">
                <a:solidFill>
                  <a:srgbClr val="6B7280"/>
                </a:solidFill>
              </a:rPr>
              <a:t>All findings are descriptive associations within the dataset. They should not be presented as proof of clinical causation.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41148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Healthcare SQL Capstone | DORI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40664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SQL • Healthcare analytics • Skin cancer risk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38360" y="0"/>
            <a:ext cx="2468880" cy="6858000"/>
          </a:xfrm>
          <a:prstGeom prst="rect">
            <a:avLst/>
          </a:prstGeom>
          <a:solidFill>
            <a:srgbClr val="062B40"/>
          </a:solidFill>
          <a:ln>
            <a:solidFill>
              <a:srgbClr val="06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04120" y="548640"/>
            <a:ext cx="109728" cy="109728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43032" y="1188720"/>
            <a:ext cx="109728" cy="109728"/>
          </a:xfrm>
          <a:prstGeom prst="ellipse">
            <a:avLst/>
          </a:prstGeom>
          <a:solidFill>
            <a:srgbClr val="00C4D6"/>
          </a:solidFill>
          <a:ln>
            <a:solidFill>
              <a:srgbClr val="00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1944" y="1828800"/>
            <a:ext cx="109728" cy="109728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04120" y="2468880"/>
            <a:ext cx="109728" cy="109728"/>
          </a:xfrm>
          <a:prstGeom prst="ellipse">
            <a:avLst/>
          </a:prstGeom>
          <a:solidFill>
            <a:srgbClr val="00C4D6"/>
          </a:solidFill>
          <a:ln>
            <a:solidFill>
              <a:srgbClr val="00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3032" y="3108960"/>
            <a:ext cx="109728" cy="109728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81944" y="3749039"/>
            <a:ext cx="109728" cy="109728"/>
          </a:xfrm>
          <a:prstGeom prst="ellipse">
            <a:avLst/>
          </a:prstGeom>
          <a:solidFill>
            <a:srgbClr val="00C4D6"/>
          </a:solidFill>
          <a:ln>
            <a:solidFill>
              <a:srgbClr val="00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04120" y="4389120"/>
            <a:ext cx="109728" cy="109728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43032" y="5029200"/>
            <a:ext cx="109728" cy="109728"/>
          </a:xfrm>
          <a:prstGeom prst="ellipse">
            <a:avLst/>
          </a:prstGeom>
          <a:solidFill>
            <a:srgbClr val="00C4D6"/>
          </a:solidFill>
          <a:ln>
            <a:solidFill>
              <a:srgbClr val="00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5669280"/>
            <a:ext cx="109728" cy="109728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747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9FC"/>
                </a:solidFill>
              </a:defRPr>
            </a:pPr>
            <a:r>
              <a:t>Diagnosis abbreviation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91440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0D3DE"/>
                </a:solidFill>
              </a:defRPr>
            </a:pPr>
            <a:r>
              <a:t>Full meanings used throughout the SQL capstone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316736"/>
            <a:ext cx="2148840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916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9140"/>
                </a:solidFill>
              </a:defRPr>
            </a:pPr>
            <a:r>
              <a:t>Severe / malignant diagnoses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148840"/>
            <a:ext cx="658368" cy="384048"/>
          </a:xfrm>
          <a:prstGeom prst="roundRect">
            <a:avLst/>
          </a:prstGeom>
          <a:solidFill>
            <a:srgbClr val="F29140"/>
          </a:solidFill>
          <a:ln>
            <a:solidFill>
              <a:srgbClr val="F29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12848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3131F"/>
                </a:solidFill>
              </a:defRPr>
            </a:pPr>
            <a:r>
              <a:t>MEL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2130552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9FC"/>
                </a:solidFill>
              </a:defRPr>
            </a:pPr>
            <a:r>
              <a:t>Melanoma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243230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0D3DE"/>
                </a:solidFill>
              </a:defRPr>
            </a:pPr>
            <a:r>
              <a:t>Rare in this dataset; highest average lesion diameter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16352"/>
            <a:ext cx="658368" cy="384048"/>
          </a:xfrm>
          <a:prstGeom prst="roundRect">
            <a:avLst/>
          </a:prstGeom>
          <a:solidFill>
            <a:srgbClr val="F29140"/>
          </a:solidFill>
          <a:ln>
            <a:solidFill>
              <a:srgbClr val="F29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3131F"/>
                </a:solidFill>
              </a:defRPr>
            </a:pPr>
            <a:r>
              <a:t>SCC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2798064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9FC"/>
                </a:solidFill>
              </a:defRPr>
            </a:pPr>
            <a:r>
              <a:t>Squamous Cell Carcinoma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099816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0D3DE"/>
                </a:solidFill>
              </a:defRPr>
            </a:pPr>
            <a:r>
              <a:t>Classed as malignant/severe in the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483864"/>
            <a:ext cx="658368" cy="384048"/>
          </a:xfrm>
          <a:prstGeom prst="roundRect">
            <a:avLst/>
          </a:prstGeom>
          <a:solidFill>
            <a:srgbClr val="F29140"/>
          </a:solidFill>
          <a:ln>
            <a:solidFill>
              <a:srgbClr val="F29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47872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3131F"/>
                </a:solidFill>
              </a:defRPr>
            </a:pPr>
            <a:r>
              <a:t>BCC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3465576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9FC"/>
                </a:solidFill>
              </a:defRPr>
            </a:pPr>
            <a:r>
              <a:t>Basal Cell Carcinoma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767328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0D3DE"/>
                </a:solidFill>
              </a:defRPr>
            </a:pPr>
            <a:r>
              <a:t>Most common malignant diagnosis among smokers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6916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96"/>
                </a:solidFill>
              </a:defRPr>
            </a:pPr>
            <a:r>
              <a:t>Precancerous and benign diagnoses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2148840"/>
            <a:ext cx="658368" cy="384048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2212848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3131F"/>
                </a:solidFill>
              </a:defRPr>
            </a:pPr>
            <a:r>
              <a:t>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2130552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9FC"/>
                </a:solidFill>
              </a:defRPr>
            </a:pPr>
            <a:r>
              <a:t>Actinic Keratosis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243230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0D3DE"/>
                </a:solidFill>
              </a:defRPr>
            </a:pPr>
            <a:r>
              <a:t>Precancerous category; most frequent diagnosis overall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2816352"/>
            <a:ext cx="658368" cy="384048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2880360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3131F"/>
                </a:solidFill>
              </a:defRPr>
            </a:pPr>
            <a:r>
              <a:t>SEK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2798064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9FC"/>
                </a:solidFill>
              </a:defRPr>
            </a:pPr>
            <a:r>
              <a:t>Seborrheic Keratosis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099816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0D3DE"/>
                </a:solidFill>
              </a:defRPr>
            </a:pPr>
            <a:r>
              <a:t>Benign diagnosis category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3483864"/>
            <a:ext cx="658368" cy="384048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3547872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3131F"/>
                </a:solidFill>
              </a:defRPr>
            </a:pPr>
            <a:r>
              <a:t>NEV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3465576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9FC"/>
                </a:solidFill>
              </a:defRPr>
            </a:pPr>
            <a:r>
              <a:t>Melanocytic Nevus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3767328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0D3DE"/>
                </a:solidFill>
              </a:defRPr>
            </a:pPr>
            <a:r>
              <a:t>Benign diagnosis category, commonly a mole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663440"/>
            <a:ext cx="8869680" cy="960120"/>
          </a:xfrm>
          <a:prstGeom prst="roundRect">
            <a:avLst/>
          </a:prstGeom>
          <a:solidFill>
            <a:srgbClr val="0B1F33"/>
          </a:solidFill>
          <a:ln>
            <a:solidFill>
              <a:srgbClr val="1A5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4818888"/>
            <a:ext cx="84582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9FC"/>
                </a:solidFill>
              </a:defRPr>
            </a:pPr>
            <a:r>
              <a:t>Analysis rule: severe diagnosis = MEL + SCC + BCC. ACK is treated as precancerous, while SEK and NEV are treated as benign. Other abbreviations: DORI = Dermalife Oncology &amp; Research Institute; SQL = Structured Query Language; DB = Database.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55664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D3DE"/>
                </a:solidFill>
              </a:defRPr>
            </a:pPr>
            <a:r>
              <a:t>Healthcare SQL Capstone | DORI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455664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0D3DE"/>
                </a:solidFill>
              </a:defRPr>
            </a:pPr>
            <a:r>
              <a:t>SQL • Healthcare analytics • Skin cancer risk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demographic risk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Malignant diagnoses concentrated among older adults, male patients and facial lesions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115568"/>
            <a:ext cx="19659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2984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Skin cancer diagnoses by age group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600200"/>
          <a:ext cx="35661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0" y="12984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Gender distribution of diagnoses</a:t>
            </a:r>
            <a:endParaRPr lang="en-US" sz="10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17720" y="1554480"/>
          <a:ext cx="27432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074920" y="3886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66.73% male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26680" y="1298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Top malignant body regions</a:t>
            </a:r>
            <a:endParaRPr lang="en-US" sz="105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7726680" y="1600200"/>
          <a:ext cx="37490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594360" y="4361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60–79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59436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highest age group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94360" y="5193792"/>
            <a:ext cx="1600200" cy="0"/>
          </a:xfrm>
          <a:prstGeom prst="line">
            <a:avLst/>
          </a:prstGeom>
          <a:noFill/>
          <a:ln w="15875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3154680" y="4361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224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315468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previous skin cancer history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154680" y="5193792"/>
            <a:ext cx="1600200" cy="0"/>
          </a:xfrm>
          <a:prstGeom prst="line">
            <a:avLst/>
          </a:prstGeom>
          <a:noFill/>
          <a:ln w="15875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5715000" y="4361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571500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top malignant region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715000" y="5193792"/>
            <a:ext cx="1600200" cy="0"/>
          </a:xfrm>
          <a:prstGeom prst="line">
            <a:avLst/>
          </a:prstGeom>
          <a:noFill/>
          <a:ln w="15875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8321040" y="4343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1F33"/>
                </a:solidFill>
              </a:rPr>
              <a:t>Insight: screening and early assessment should prioritise older adults and visible high-risk regions such as the face, chest and nose.</a:t>
            </a:r>
            <a:endParaRPr lang="en-US" sz="1240" dirty="0"/>
          </a:p>
        </p:txBody>
      </p:sp>
      <p:sp>
        <p:nvSpPr>
          <p:cNvPr id="23" name="Text 18"/>
          <p:cNvSpPr/>
          <p:nvPr/>
        </p:nvSpPr>
        <p:spPr>
          <a:xfrm>
            <a:off x="41148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Healthcare SQL Capstone | DORI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740664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SQL • Healthcare analytics • Skin cancer risk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82738"/>
                </a:solidFill>
                <a:latin typeface="Aptos"/>
              </a:rPr>
              <a:t>Lesion growth and diagnosis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5B6D"/>
                </a:solidFill>
                <a:latin typeface="Aptos"/>
              </a:rPr>
              <a:t>ACK was most frequent, itching was the leading symptom, and MEL had the highest average lesion diameter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60704"/>
            <a:ext cx="960120" cy="2743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79476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fre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1325880"/>
            <a:ext cx="3575304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80560" y="1234440"/>
            <a:ext cx="370332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ymptom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1325880"/>
            <a:ext cx="3483863" cy="2743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234440"/>
            <a:ext cx="324612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me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1325880"/>
            <a:ext cx="3026663" cy="2743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617720"/>
            <a:ext cx="196596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727448"/>
            <a:ext cx="17465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510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12064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>
                <a:solidFill>
                  <a:srgbClr val="748494"/>
                </a:solidFill>
                <a:latin typeface="Aptos"/>
              </a:rPr>
              <a:t>growing lesions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5312664"/>
            <a:ext cx="640080" cy="228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4640" y="4617720"/>
            <a:ext cx="196596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4727448"/>
            <a:ext cx="17465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46.88%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512064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>
                <a:solidFill>
                  <a:srgbClr val="748494"/>
                </a:solidFill>
                <a:latin typeface="Aptos"/>
              </a:rPr>
              <a:t>growth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5312664"/>
            <a:ext cx="640080" cy="228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4617720"/>
            <a:ext cx="196596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8" y="4727448"/>
            <a:ext cx="17465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A6A6"/>
                </a:solidFill>
                <a:latin typeface="Aptos"/>
              </a:rPr>
              <a:t>458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512064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>
                <a:solidFill>
                  <a:srgbClr val="748494"/>
                </a:solidFill>
                <a:latin typeface="Aptos"/>
              </a:rPr>
              <a:t>biopsied lesions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208" y="5312664"/>
            <a:ext cx="640080" cy="228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0" y="4617720"/>
            <a:ext cx="196596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4727448"/>
            <a:ext cx="17465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A6A6"/>
                </a:solidFill>
                <a:latin typeface="Aptos"/>
              </a:rPr>
              <a:t>42.10%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512064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>
                <a:solidFill>
                  <a:srgbClr val="748494"/>
                </a:solidFill>
                <a:latin typeface="Aptos"/>
              </a:rPr>
              <a:t>biopsy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42048" y="5312664"/>
            <a:ext cx="640080" cy="228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81160" y="4617720"/>
            <a:ext cx="23317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36608" y="473659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28C28"/>
                </a:solidFill>
                <a:latin typeface="Aptos"/>
              </a:rPr>
              <a:t>Key finding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4937760"/>
            <a:ext cx="19385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>
                <a:solidFill>
                  <a:srgbClr val="182738"/>
                </a:solidFill>
                <a:latin typeface="Aptos"/>
              </a:rPr>
              <a:t>MEL had the largest average diameter despite being the rarest malignant diagnosis.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97880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48494"/>
                </a:solidFill>
                <a:latin typeface="Aptos"/>
              </a:rPr>
              <a:t>Presentation note: a lesion may have multiple symptoms, so symptom counts should not be added together as patient totals.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0">
                <a:solidFill>
                  <a:srgbClr val="7A8B9A"/>
                </a:solidFill>
                <a:latin typeface="Aptos"/>
              </a:rPr>
              <a:t>Healthcare SQL Capstone | DORI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6565392"/>
            <a:ext cx="3383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550" b="0">
                <a:solidFill>
                  <a:srgbClr val="7A8B9A"/>
                </a:solidFill>
                <a:latin typeface="Aptos"/>
              </a:rPr>
              <a:t>SQL • Healthcare analytics • Skin cancer risk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82738"/>
                </a:solidFill>
                <a:latin typeface="Aptos"/>
              </a:rPr>
              <a:t>Environmental healthcare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5B6D"/>
                </a:solidFill>
                <a:latin typeface="Aptos"/>
              </a:rPr>
              <a:t>The face dominated diagnosis and biopsy counts; poor sanitation did not show a higher severe rate in this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60704"/>
            <a:ext cx="960120" cy="2743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7033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g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1325880"/>
            <a:ext cx="3483863" cy="30632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34840" y="1234440"/>
            <a:ext cx="356616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iopsied_reg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568" y="1325880"/>
            <a:ext cx="3346704" cy="30632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234440"/>
            <a:ext cx="338328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anit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7" y="1325880"/>
            <a:ext cx="3163824" cy="30632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00600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910328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782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303520"/>
            <a:ext cx="19293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>
                <a:solidFill>
                  <a:srgbClr val="748494"/>
                </a:solidFill>
                <a:latin typeface="Aptos"/>
              </a:rPr>
              <a:t>without piped water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5404104"/>
            <a:ext cx="640080" cy="228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90672" y="4800600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910328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8C28"/>
                </a:solidFill>
                <a:latin typeface="Aptos"/>
              </a:rPr>
              <a:t>815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303520"/>
            <a:ext cx="19293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>
                <a:solidFill>
                  <a:srgbClr val="748494"/>
                </a:solidFill>
                <a:latin typeface="Aptos"/>
              </a:rPr>
              <a:t>without sewage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404104"/>
            <a:ext cx="640080" cy="228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0" y="4800600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4910328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A6A6"/>
                </a:solidFill>
                <a:latin typeface="Aptos"/>
              </a:rPr>
              <a:t>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5303520"/>
            <a:ext cx="19293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>
                <a:solidFill>
                  <a:srgbClr val="748494"/>
                </a:solidFill>
                <a:latin typeface="Aptos"/>
              </a:rPr>
              <a:t>top diagnosis region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96128" y="5404104"/>
            <a:ext cx="640080" cy="228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82127" y="4800600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1855" y="4910328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A6A6"/>
                </a:solidFill>
                <a:latin typeface="Aptos"/>
              </a:rPr>
              <a:t>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5" y="5303520"/>
            <a:ext cx="19293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>
                <a:solidFill>
                  <a:srgbClr val="748494"/>
                </a:solidFill>
                <a:latin typeface="Aptos"/>
              </a:rPr>
              <a:t>top biopsy region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5" y="5404104"/>
            <a:ext cx="640080" cy="228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815584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182738"/>
                </a:solidFill>
                <a:latin typeface="Aptos"/>
              </a:rPr>
              <a:t>Finding: poor sanitation was common, but severe diagnoses were proportionally higher among patients with adequate sanitation access in this dataset. Interpret cautiously because this shows association only.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0">
                <a:solidFill>
                  <a:srgbClr val="7A8B9A"/>
                </a:solidFill>
                <a:latin typeface="Aptos"/>
              </a:rPr>
              <a:t>Healthcare SQL Capstone | DORI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6565392"/>
            <a:ext cx="3383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550" b="0">
                <a:solidFill>
                  <a:srgbClr val="7A8B9A"/>
                </a:solidFill>
                <a:latin typeface="Aptos"/>
              </a:rPr>
              <a:t>SQL • Healthcare analytics • Skin cancer risk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Lifestyle and behavioural risk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Combined smoking and alcohol exposure recorded the highest severe-diagnosis percentage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115568"/>
            <a:ext cx="19659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3167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smokers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1408176" cy="0"/>
          </a:xfrm>
          <a:prstGeom prst="line">
            <a:avLst/>
          </a:prstGeom>
          <a:noFill/>
          <a:ln w="15875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34640" y="13167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834640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alcohol consumers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2148840"/>
            <a:ext cx="1408176" cy="0"/>
          </a:xfrm>
          <a:prstGeom prst="line">
            <a:avLst/>
          </a:prstGeom>
          <a:noFill/>
          <a:ln w="15875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74920" y="13167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45.16%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074920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smokers who drink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2148840"/>
            <a:ext cx="1408176" cy="0"/>
          </a:xfrm>
          <a:prstGeom prst="line">
            <a:avLst/>
          </a:prstGeom>
          <a:noFill/>
          <a:ln w="15875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60920" y="1298448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543800" y="1472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Most common smoker diagnosis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43800" y="1728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BCC (Basal Cell Carcinoma): 30 cases</a:t>
            </a:r>
          </a:p>
        </p:txBody>
      </p:sp>
      <p:sp>
        <p:nvSpPr>
          <p:cNvPr id="18" name="Text 16"/>
          <p:cNvSpPr/>
          <p:nvPr/>
        </p:nvSpPr>
        <p:spPr>
          <a:xfrm>
            <a:off x="685800" y="2743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Diagnosis among smokers</a:t>
            </a:r>
            <a:endParaRPr lang="en-US" sz="10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85800" y="3063240"/>
          <a:ext cx="39776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074920" y="27432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Malignant rate by lifestyle group</a:t>
            </a:r>
            <a:endParaRPr lang="en-US" sz="105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074920" y="306324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777240" y="5650992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</a:rPr>
              <a:t>Insight: patients who both smoked and consumed alcohol had the highest malignant diagnosis rate at 82.14%; smoking was the strongest individual factor.</a:t>
            </a:r>
            <a:endParaRPr lang="en-US" sz="1320" dirty="0"/>
          </a:p>
        </p:txBody>
      </p:sp>
      <p:sp>
        <p:nvSpPr>
          <p:cNvPr id="23" name="Text 19"/>
          <p:cNvSpPr/>
          <p:nvPr/>
        </p:nvSpPr>
        <p:spPr>
          <a:xfrm>
            <a:off x="41148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Healthcare SQL Capstone | DORI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740664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SQL • Healthcare analytics • Skin cancer risk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a_wide_high_resolution_abstract_biotech_medic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88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502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insights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85800" y="1078992"/>
            <a:ext cx="19202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1554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5361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Older adults at risk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43400" y="1554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3E8EF"/>
                </a:solidFill>
              </a:rPr>
              <a:t>The 60–79 age group recorded the highest malignant diagnosis count.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77240" y="24048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23865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Visible regions dominate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43400" y="24048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3E8EF"/>
                </a:solidFill>
              </a:rPr>
              <a:t>The face had the highest overall, malignant and biopsied lesion counts.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777240" y="32552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63040" y="32369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Symptoms support triage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343400" y="32552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3E8EF"/>
                </a:solidFill>
              </a:rPr>
              <a:t>Itching and elevation were the leading symptom indicators.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77240" y="41056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63040" y="40873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Melanoma deserves attention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43400" y="410565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Melanoma (MEL) was rare but had the highest average lesion diameter.</a:t>
            </a:r>
          </a:p>
        </p:txBody>
      </p:sp>
      <p:sp>
        <p:nvSpPr>
          <p:cNvPr id="19" name="Text 16"/>
          <p:cNvSpPr/>
          <p:nvPr/>
        </p:nvSpPr>
        <p:spPr>
          <a:xfrm>
            <a:off x="777240" y="4956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05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63040" y="4937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Lifestyle signal is strong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43400" y="49560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3E8EF"/>
                </a:solidFill>
              </a:rPr>
              <a:t>Smoking plus alcohol produced the highest malignant-diagnosis percentage.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Healthcare recommendations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Turn SQL insights into early-detection and preventive-care actions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115568"/>
            <a:ext cx="19659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50876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96112" y="1709928"/>
            <a:ext cx="329184" cy="329184"/>
          </a:xfrm>
          <a:prstGeom prst="ellipse">
            <a:avLst/>
          </a:prstGeom>
          <a:solidFill>
            <a:srgbClr val="00A896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176936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89888" y="16733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Targeted screening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89888" y="19385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Prioritise older adults, especially patients aged 60–79, for routine lesion reviews and early referral.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96112" y="3127248"/>
            <a:ext cx="329184" cy="329184"/>
          </a:xfrm>
          <a:prstGeom prst="ellipse">
            <a:avLst/>
          </a:prstGeom>
          <a:solidFill>
            <a:srgbClr val="F28C28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6112" y="318668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89888" y="30906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Region-focused assessment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89888" y="33558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Give careful attention to the face, chest and nose because they recorded the highest malignant counts.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96112" y="4544568"/>
            <a:ext cx="329184" cy="329184"/>
          </a:xfrm>
          <a:prstGeom prst="ellipse">
            <a:avLst/>
          </a:prstGeom>
          <a:solidFill>
            <a:srgbClr val="00A896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" y="46040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89888" y="45079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Symptom-led triage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89888" y="4773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Fast-track lesions that are growing, itchy, elevated, bleeding or painful for closer review.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400800" y="150876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565392" y="1709928"/>
            <a:ext cx="329184" cy="329184"/>
          </a:xfrm>
          <a:prstGeom prst="ellipse">
            <a:avLst/>
          </a:prstGeom>
          <a:solidFill>
            <a:srgbClr val="F28C28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65392" y="176936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59168" y="16733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Biopsy prioritisation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59168" y="19385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Use lesion diameter and suspicious symptom combinations to support biopsy decisions.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400800" y="292608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65392" y="3127248"/>
            <a:ext cx="329184" cy="329184"/>
          </a:xfrm>
          <a:prstGeom prst="ellipse">
            <a:avLst/>
          </a:prstGeom>
          <a:solidFill>
            <a:srgbClr val="00A896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65392" y="318668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59168" y="30906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Lifestyle prevention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59168" y="33558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Integrate smoking and alcohol counselling into skin-cancer risk education and follow-up.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400800" y="434340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565392" y="4544568"/>
            <a:ext cx="329184" cy="329184"/>
          </a:xfrm>
          <a:prstGeom prst="ellipse">
            <a:avLst/>
          </a:prstGeom>
          <a:solidFill>
            <a:srgbClr val="F28C28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565392" y="46040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59168" y="45079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Data monitoring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59168" y="4773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Maintain a dashboard tracking diagnosis category, region, symptoms, biopsy rate and severe diagnosis rate.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777240" y="605332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These recommendations are based on descriptive patterns in the available dataset and should be combined with clinical judgement.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Healthcare SQL Capstone | DORI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40664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SQL • Healthcare analytics • Skin cancer risk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F7FB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next steps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How the analysis should be interpreted before clinical decision-making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115568"/>
            <a:ext cx="19659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691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148840"/>
            <a:ext cx="43434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60" dirty="0">
                <a:solidFill>
                  <a:srgbClr val="1F2937"/>
                </a:solidFill>
              </a:rPr>
              <a:t>Results show associations, not proof of causation</a:t>
            </a:r>
            <a:endParaRPr lang="en-US" sz="1260" dirty="0"/>
          </a:p>
          <a:p>
            <a:r>
              <a:rPr lang="en-US" sz="1260" dirty="0">
                <a:solidFill>
                  <a:srgbClr val="1F2937"/>
                </a:solidFill>
              </a:rPr>
              <a:t>No time dimension to analyse diagnosis delay or progression speed</a:t>
            </a:r>
            <a:endParaRPr lang="en-US" sz="1260" dirty="0"/>
          </a:p>
          <a:p>
            <a:r>
              <a:rPr lang="en-US" sz="1260" dirty="0">
                <a:solidFill>
                  <a:srgbClr val="1F2937"/>
                </a:solidFill>
              </a:rPr>
              <a:t>No control variables such as UV exposure, occupation or treatment pathway</a:t>
            </a:r>
            <a:endParaRPr lang="en-US" sz="1260" dirty="0"/>
          </a:p>
          <a:p>
            <a:r>
              <a:rPr lang="en-US" sz="1260" dirty="0">
                <a:solidFill>
                  <a:srgbClr val="1F2937"/>
                </a:solidFill>
              </a:rPr>
              <a:t>Poor sanitation pattern may be affected by confounding or data imbalance</a:t>
            </a:r>
            <a:endParaRPr lang="en-US" sz="1260" dirty="0"/>
          </a:p>
          <a:p>
            <a:r>
              <a:rPr lang="en-US" sz="1260" dirty="0">
                <a:solidFill>
                  <a:srgbClr val="1F2937"/>
                </a:solidFill>
              </a:rPr>
              <a:t>Diagnosis codes need clinical validation before operational use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074920" cy="4526280"/>
          </a:xfrm>
          <a:prstGeom prst="roundRect">
            <a:avLst>
              <a:gd name="adj" fmla="val 202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20840" y="1691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Recommended next steps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Turn the SQL outputs into a live monitoring dashboard for screening, biopsy prioritisation and preventive-care planning.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720840" y="3063240"/>
            <a:ext cx="164592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12280" y="3429000"/>
            <a:ext cx="4114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20" dirty="0">
                <a:solidFill>
                  <a:srgbClr val="D5E5EE"/>
                </a:solidFill>
              </a:rPr>
              <a:t>Add date fields for trend and time-to-diagnosis analysis</a:t>
            </a:r>
            <a:endParaRPr lang="en-US" sz="1220" dirty="0"/>
          </a:p>
          <a:p>
            <a:r>
              <a:rPr lang="en-US" sz="1220" dirty="0">
                <a:solidFill>
                  <a:srgbClr val="D5E5EE"/>
                </a:solidFill>
              </a:rPr>
              <a:t>Compare malignant rates with age, sex and body-region controls</a:t>
            </a:r>
            <a:endParaRPr lang="en-US" sz="1220" dirty="0"/>
          </a:p>
          <a:p>
            <a:r>
              <a:rPr lang="en-US" sz="1220" dirty="0">
                <a:solidFill>
                  <a:srgbClr val="D5E5EE"/>
                </a:solidFill>
              </a:rPr>
              <a:t>Use regression or risk scoring to test which factors remain significant</a:t>
            </a:r>
            <a:endParaRPr lang="en-US" sz="1220" dirty="0"/>
          </a:p>
          <a:p>
            <a:r>
              <a:rPr lang="en-US" sz="1220" dirty="0">
                <a:solidFill>
                  <a:srgbClr val="D5E5EE"/>
                </a:solidFill>
              </a:rPr>
              <a:t>Create clinical thresholds for diameter, symptoms and biopsy escalation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097280" y="5989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Best message for presentation: the SQL analysis supports targeted early detection, but final clinical decisions require validation and expert review.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Healthcare SQL Capstone | DORI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06640" y="651052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8096"/>
                </a:solidFill>
              </a:rPr>
              <a:t>SQL • Healthcare analytics • Skin cancer risk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a_wide_high_resolution_abstract_biotech_medic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90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85800" y="731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conclusion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13232" y="1389888"/>
            <a:ext cx="192024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13232" y="201168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analysis identified older adults, facial lesions, suspicious symptoms, larger melanoma lesions and combined smoking/alcohol exposure as the strongest areas for clinical attention in the dataset.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7EA"/>
                </a:solidFill>
              </a:rPr>
              <a:t>Clinical value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5E5EE"/>
                </a:solidFill>
              </a:rPr>
              <a:t>The SQL findings can support targeted screening, symptom-led triage, biopsy prioritisation and preventive health education.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01000" y="164592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0B1F33">
              <a:alpha val="92000"/>
            </a:srgbClr>
          </a:solidFill>
          <a:ln w="19050">
            <a:solidFill>
              <a:srgbClr val="58D3C8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210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Ready for questions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275320" y="2971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D5E5EE"/>
                </a:solidFill>
              </a:rPr>
              <a:t>SQL capstone analysis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D5E5EE"/>
                </a:solidFill>
              </a:rPr>
              <a:t>DORI skin cancer risk intelligence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84582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F7EA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DORI / 10Alytics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Cancer Risk Intelligence &amp; Patient Diagnosis Optimization</dc:title>
  <dc:subject>Healthcare SQL Capstone Presentation</dc:subject>
  <dc:creator>OpenAI</dc:creator>
  <cp:lastModifiedBy>OpenAI</cp:lastModifiedBy>
  <cp:revision>1</cp:revision>
  <dcterms:created xsi:type="dcterms:W3CDTF">2026-07-30T17:59:46Z</dcterms:created>
  <dcterms:modified xsi:type="dcterms:W3CDTF">2026-07-30T17:59:46Z</dcterms:modified>
</cp:coreProperties>
</file>